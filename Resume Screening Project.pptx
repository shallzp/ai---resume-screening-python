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Libre Baskerville"/>
      <p:regular r:id="rId16"/>
    </p:embeddedFont>
    <p:embeddedFont>
      <p:font typeface="Libre Baskerville"/>
      <p:regular r:id="rId17"/>
    </p:embeddedFont>
    <p:embeddedFont>
      <p:font typeface="Libre Baskerville"/>
      <p:regular r:id="rId18"/>
    </p:embeddedFont>
    <p:embeddedFont>
      <p:font typeface="Libre Baskerville"/>
      <p:regular r:id="rId19"/>
    </p:embeddedFont>
    <p:embeddedFont>
      <p:font typeface="DM Sans"/>
      <p:regular r:id="rId20"/>
    </p:embeddedFont>
    <p:embeddedFont>
      <p:font typeface="DM Sans"/>
      <p:regular r:id="rId21"/>
    </p:embeddedFont>
    <p:embeddedFont>
      <p:font typeface="DM Sans"/>
      <p:regular r:id="rId22"/>
    </p:embeddedFont>
    <p:embeddedFont>
      <p:font typeface="DM Sans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50031"/>
            <a:ext cx="75564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Resume Screening Project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793790" y="444662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Categorizes resumes and recommends jobs using machine learning.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506468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Utilizes Random Forest Classifier and TF-IDF for text analysis.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5699641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410" y="5707261"/>
            <a:ext cx="347663" cy="3476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70040" y="5682734"/>
            <a:ext cx="2089309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by Shalini Patel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3657" y="537448"/>
            <a:ext cx="4883825" cy="610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800"/>
              </a:lnSpc>
              <a:buNone/>
            </a:pPr>
            <a:r>
              <a:rPr lang="en-US" sz="38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Project Workflow</a:t>
            </a:r>
            <a:endParaRPr lang="en-US" sz="38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657" y="1440894"/>
            <a:ext cx="976670" cy="156281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953339" y="1636157"/>
            <a:ext cx="2441853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Collection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1953339" y="2058472"/>
            <a:ext cx="6507004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Gathered resume data with job roles and features.</a:t>
            </a:r>
            <a:endParaRPr lang="en-US" sz="15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657" y="3003709"/>
            <a:ext cx="976670" cy="156281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953339" y="3198971"/>
            <a:ext cx="2441853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Preprocessing</a:t>
            </a:r>
            <a:endParaRPr lang="en-US" sz="1900" dirty="0"/>
          </a:p>
        </p:txBody>
      </p:sp>
      <p:sp>
        <p:nvSpPr>
          <p:cNvPr id="9" name="Text 4"/>
          <p:cNvSpPr/>
          <p:nvPr/>
        </p:nvSpPr>
        <p:spPr>
          <a:xfrm>
            <a:off x="1953339" y="3621286"/>
            <a:ext cx="6507004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Filtered and balanced dataset to avoid class imbalance.</a:t>
            </a:r>
            <a:endParaRPr lang="en-US" sz="15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657" y="4566523"/>
            <a:ext cx="976670" cy="156281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953339" y="4761786"/>
            <a:ext cx="2441853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Model Training</a:t>
            </a:r>
            <a:endParaRPr lang="en-US" sz="1900" dirty="0"/>
          </a:p>
        </p:txBody>
      </p:sp>
      <p:sp>
        <p:nvSpPr>
          <p:cNvPr id="12" name="Text 6"/>
          <p:cNvSpPr/>
          <p:nvPr/>
        </p:nvSpPr>
        <p:spPr>
          <a:xfrm>
            <a:off x="1953339" y="5184100"/>
            <a:ext cx="6507004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Used text vectorization and classification for job roles.</a:t>
            </a:r>
            <a:endParaRPr lang="en-US" sz="15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657" y="6129338"/>
            <a:ext cx="976670" cy="156281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953339" y="6324600"/>
            <a:ext cx="2441853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Evaluation</a:t>
            </a:r>
            <a:endParaRPr lang="en-US" sz="1900" dirty="0"/>
          </a:p>
        </p:txBody>
      </p:sp>
      <p:sp>
        <p:nvSpPr>
          <p:cNvPr id="15" name="Text 8"/>
          <p:cNvSpPr/>
          <p:nvPr/>
        </p:nvSpPr>
        <p:spPr>
          <a:xfrm>
            <a:off x="1953339" y="6746915"/>
            <a:ext cx="6507004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Tested accuracy and deployed for real-world application.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21412"/>
            <a:ext cx="983420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Preprocessing and Balancing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Goal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7831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Ensure balanced representation of job categories.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Steps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57831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Counted instances, resampled data to maximum category count.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Result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57831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Balanced dataset ready for effective model training.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9111" y="576858"/>
            <a:ext cx="7678579" cy="1308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150"/>
              </a:lnSpc>
              <a:buNone/>
            </a:pPr>
            <a:r>
              <a:rPr lang="en-US" sz="41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Text Vectorization Using TF-IDF</a:t>
            </a:r>
            <a:endParaRPr lang="en-US" sz="4100" dirty="0"/>
          </a:p>
        </p:txBody>
      </p:sp>
      <p:sp>
        <p:nvSpPr>
          <p:cNvPr id="4" name="Shape 1"/>
          <p:cNvSpPr/>
          <p:nvPr/>
        </p:nvSpPr>
        <p:spPr>
          <a:xfrm>
            <a:off x="6521648" y="2199323"/>
            <a:ext cx="22860" cy="5453301"/>
          </a:xfrm>
          <a:prstGeom prst="roundRect">
            <a:avLst>
              <a:gd name="adj" fmla="val 384687"/>
            </a:avLst>
          </a:prstGeom>
          <a:solidFill>
            <a:srgbClr val="DDD3BA"/>
          </a:solidFill>
          <a:ln/>
        </p:spPr>
      </p:sp>
      <p:sp>
        <p:nvSpPr>
          <p:cNvPr id="5" name="Shape 2"/>
          <p:cNvSpPr/>
          <p:nvPr/>
        </p:nvSpPr>
        <p:spPr>
          <a:xfrm>
            <a:off x="6745724" y="2658904"/>
            <a:ext cx="732711" cy="22860"/>
          </a:xfrm>
          <a:prstGeom prst="roundRect">
            <a:avLst>
              <a:gd name="adj" fmla="val 384687"/>
            </a:avLst>
          </a:prstGeom>
          <a:solidFill>
            <a:srgbClr val="DDD3BA"/>
          </a:solidFill>
          <a:ln/>
        </p:spPr>
      </p:sp>
      <p:sp>
        <p:nvSpPr>
          <p:cNvPr id="6" name="Shape 3"/>
          <p:cNvSpPr/>
          <p:nvPr/>
        </p:nvSpPr>
        <p:spPr>
          <a:xfrm>
            <a:off x="6297573" y="2434828"/>
            <a:ext cx="471011" cy="471011"/>
          </a:xfrm>
          <a:prstGeom prst="roundRect">
            <a:avLst>
              <a:gd name="adj" fmla="val 18670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62951" y="2513290"/>
            <a:ext cx="140137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7684651" y="2408634"/>
            <a:ext cx="2617232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Purpose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7684651" y="2861310"/>
            <a:ext cx="6213038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Transform resume text into numerical form.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745724" y="4074557"/>
            <a:ext cx="732711" cy="22860"/>
          </a:xfrm>
          <a:prstGeom prst="roundRect">
            <a:avLst>
              <a:gd name="adj" fmla="val 384687"/>
            </a:avLst>
          </a:prstGeom>
          <a:solidFill>
            <a:srgbClr val="DDD3BA"/>
          </a:solidFill>
          <a:ln/>
        </p:spPr>
      </p:sp>
      <p:sp>
        <p:nvSpPr>
          <p:cNvPr id="11" name="Shape 8"/>
          <p:cNvSpPr/>
          <p:nvPr/>
        </p:nvSpPr>
        <p:spPr>
          <a:xfrm>
            <a:off x="6297573" y="3850481"/>
            <a:ext cx="471011" cy="471011"/>
          </a:xfrm>
          <a:prstGeom prst="roundRect">
            <a:avLst>
              <a:gd name="adj" fmla="val 18670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36281" y="3928943"/>
            <a:ext cx="193477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450" dirty="0"/>
          </a:p>
        </p:txBody>
      </p:sp>
      <p:sp>
        <p:nvSpPr>
          <p:cNvPr id="13" name="Text 10"/>
          <p:cNvSpPr/>
          <p:nvPr/>
        </p:nvSpPr>
        <p:spPr>
          <a:xfrm>
            <a:off x="7684651" y="3824288"/>
            <a:ext cx="2617232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Process</a:t>
            </a:r>
            <a:endParaRPr lang="en-US" sz="2050" dirty="0"/>
          </a:p>
        </p:txBody>
      </p:sp>
      <p:sp>
        <p:nvSpPr>
          <p:cNvPr id="14" name="Text 11"/>
          <p:cNvSpPr/>
          <p:nvPr/>
        </p:nvSpPr>
        <p:spPr>
          <a:xfrm>
            <a:off x="7684651" y="4276963"/>
            <a:ext cx="6213038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Fit vectorizer on training data, build vocabulary.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745724" y="5490210"/>
            <a:ext cx="732711" cy="22860"/>
          </a:xfrm>
          <a:prstGeom prst="roundRect">
            <a:avLst>
              <a:gd name="adj" fmla="val 384687"/>
            </a:avLst>
          </a:prstGeom>
          <a:solidFill>
            <a:srgbClr val="DDD3BA"/>
          </a:solidFill>
          <a:ln/>
        </p:spPr>
      </p:sp>
      <p:sp>
        <p:nvSpPr>
          <p:cNvPr id="16" name="Shape 13"/>
          <p:cNvSpPr/>
          <p:nvPr/>
        </p:nvSpPr>
        <p:spPr>
          <a:xfrm>
            <a:off x="6297573" y="5266134"/>
            <a:ext cx="471011" cy="471011"/>
          </a:xfrm>
          <a:prstGeom prst="roundRect">
            <a:avLst>
              <a:gd name="adj" fmla="val 18670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36281" y="5344597"/>
            <a:ext cx="193477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450" dirty="0"/>
          </a:p>
        </p:txBody>
      </p:sp>
      <p:sp>
        <p:nvSpPr>
          <p:cNvPr id="18" name="Text 15"/>
          <p:cNvSpPr/>
          <p:nvPr/>
        </p:nvSpPr>
        <p:spPr>
          <a:xfrm>
            <a:off x="7684651" y="5239941"/>
            <a:ext cx="2617232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Transform</a:t>
            </a:r>
            <a:endParaRPr lang="en-US" sz="2050" dirty="0"/>
          </a:p>
        </p:txBody>
      </p:sp>
      <p:sp>
        <p:nvSpPr>
          <p:cNvPr id="19" name="Text 16"/>
          <p:cNvSpPr/>
          <p:nvPr/>
        </p:nvSpPr>
        <p:spPr>
          <a:xfrm>
            <a:off x="7684651" y="5692616"/>
            <a:ext cx="6213038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Convert training and testing data to TF-IDF matrices.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745724" y="6905863"/>
            <a:ext cx="732711" cy="22860"/>
          </a:xfrm>
          <a:prstGeom prst="roundRect">
            <a:avLst>
              <a:gd name="adj" fmla="val 384687"/>
            </a:avLst>
          </a:prstGeom>
          <a:solidFill>
            <a:srgbClr val="DDD3BA"/>
          </a:solidFill>
          <a:ln/>
        </p:spPr>
      </p:sp>
      <p:sp>
        <p:nvSpPr>
          <p:cNvPr id="21" name="Shape 18"/>
          <p:cNvSpPr/>
          <p:nvPr/>
        </p:nvSpPr>
        <p:spPr>
          <a:xfrm>
            <a:off x="6297573" y="6681788"/>
            <a:ext cx="471011" cy="471011"/>
          </a:xfrm>
          <a:prstGeom prst="roundRect">
            <a:avLst>
              <a:gd name="adj" fmla="val 18670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41162" y="6760250"/>
            <a:ext cx="183713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450" dirty="0"/>
          </a:p>
        </p:txBody>
      </p:sp>
      <p:sp>
        <p:nvSpPr>
          <p:cNvPr id="23" name="Text 20"/>
          <p:cNvSpPr/>
          <p:nvPr/>
        </p:nvSpPr>
        <p:spPr>
          <a:xfrm>
            <a:off x="7684651" y="6655594"/>
            <a:ext cx="2617232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Outcome</a:t>
            </a:r>
            <a:endParaRPr lang="en-US" sz="2050" dirty="0"/>
          </a:p>
        </p:txBody>
      </p:sp>
      <p:sp>
        <p:nvSpPr>
          <p:cNvPr id="24" name="Text 21"/>
          <p:cNvSpPr/>
          <p:nvPr/>
        </p:nvSpPr>
        <p:spPr>
          <a:xfrm>
            <a:off x="7684651" y="7108269"/>
            <a:ext cx="6213038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Provide input features for machine learning models.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824038"/>
            <a:ext cx="731746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Random Forest Classifier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12812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59379" y="3213140"/>
            <a:ext cx="151805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017306" y="31281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Model Choice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017306" y="3618548"/>
            <a:ext cx="29277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Ensemble model combining multiple decision trees.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71867" y="312812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22243" y="3213140"/>
            <a:ext cx="209550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0908983" y="31281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Training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908983" y="3618548"/>
            <a:ext cx="29277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Used balanced, TF-IDF-transformed text data.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80190" y="482631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30566" y="4911328"/>
            <a:ext cx="209550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7017306" y="48263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Categorization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017306" y="5316736"/>
            <a:ext cx="29277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Learned to classify resumes based on features.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10171867" y="482631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327481" y="4911328"/>
            <a:ext cx="199072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10908983" y="48263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Advantages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0908983" y="5316736"/>
            <a:ext cx="292774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Handles large datasets, reduces overfitting, high accuracy.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699629"/>
            <a:ext cx="74614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Model Evaluation Metrics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4748570"/>
            <a:ext cx="13042821" cy="2616518"/>
          </a:xfrm>
          <a:prstGeom prst="roundRect">
            <a:avLst>
              <a:gd name="adj" fmla="val 364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01410" y="4756190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028224" y="4899898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Metric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545824" y="4899898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Purpose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801410" y="5406509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028224" y="5550218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Accuracy Score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545824" y="5550218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Overall performance on test data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801410" y="6056828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028224" y="6200537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Classification Report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545824" y="6200537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Precision, Recall, F1-Score per category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801410" y="6707148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1028224" y="6850856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Confusion Matrix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7545824" y="6850856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Visual representation of predictions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165402"/>
            <a:ext cx="76779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Confusion Matrix Analysis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214342"/>
            <a:ext cx="4196358" cy="1685092"/>
          </a:xfrm>
          <a:prstGeom prst="roundRect">
            <a:avLst>
              <a:gd name="adj" fmla="val 5654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54487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Visualization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5939195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Heatmap of true vs. predicted labels.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16962" y="5214342"/>
            <a:ext cx="4196358" cy="1685092"/>
          </a:xfrm>
          <a:prstGeom prst="roundRect">
            <a:avLst>
              <a:gd name="adj" fmla="val 5654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51396" y="54487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Highlights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51396" y="5939195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Shows model's strengths and areas for improvement.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640133" y="5214342"/>
            <a:ext cx="4196358" cy="1685092"/>
          </a:xfrm>
          <a:prstGeom prst="roundRect">
            <a:avLst>
              <a:gd name="adj" fmla="val 5654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74568" y="54487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Interpretation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874568" y="5939195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Guides further model tuning and refinement.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88512" y="863679"/>
            <a:ext cx="7605236" cy="626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900"/>
              </a:lnSpc>
              <a:buNone/>
            </a:pPr>
            <a:r>
              <a:rPr lang="en-US" sz="3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Model Persistence with Pickle</a:t>
            </a:r>
            <a:endParaRPr lang="en-US" sz="39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512" y="1791533"/>
            <a:ext cx="501491" cy="50149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88512" y="2493645"/>
            <a:ext cx="2507813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Save Models</a:t>
            </a:r>
            <a:endParaRPr lang="en-US" sz="1950" dirty="0"/>
          </a:p>
        </p:txBody>
      </p:sp>
      <p:sp>
        <p:nvSpPr>
          <p:cNvPr id="6" name="Text 2"/>
          <p:cNvSpPr/>
          <p:nvPr/>
        </p:nvSpPr>
        <p:spPr>
          <a:xfrm>
            <a:off x="6188512" y="2927390"/>
            <a:ext cx="7739777" cy="320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Store trained model and TF-IDF vectorizer.</a:t>
            </a:r>
            <a:endParaRPr lang="en-US" sz="15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512" y="3850243"/>
            <a:ext cx="501491" cy="50149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188512" y="4552355"/>
            <a:ext cx="2507813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Future Use</a:t>
            </a:r>
            <a:endParaRPr lang="en-US" sz="1950" dirty="0"/>
          </a:p>
        </p:txBody>
      </p:sp>
      <p:sp>
        <p:nvSpPr>
          <p:cNvPr id="9" name="Text 4"/>
          <p:cNvSpPr/>
          <p:nvPr/>
        </p:nvSpPr>
        <p:spPr>
          <a:xfrm>
            <a:off x="6188512" y="4986099"/>
            <a:ext cx="7739777" cy="320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Facilitate usage without retraining.</a:t>
            </a:r>
            <a:endParaRPr lang="en-US" sz="15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512" y="5908953"/>
            <a:ext cx="501491" cy="50149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188512" y="6611064"/>
            <a:ext cx="2507813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Deployment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6188512" y="7044809"/>
            <a:ext cx="7739777" cy="320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Enable quick job role prediction in applications.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21412"/>
            <a:ext cx="840486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Conclusion and Future Work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7831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Developed resume screening system with advanced ML techniques.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Enhancements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57831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Explore deep learning, integrate additional features.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Applications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57831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Automate HR systems for resume screening, job recommendations.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2024-11-14T15:44:42Z</dcterms:created>
  <dcterms:modified xsi:type="dcterms:W3CDTF">2024-11-14T15:44:42Z</dcterms:modified>
</cp:coreProperties>
</file>